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AI | Bai et al. | Anthropic | arXiv:2212.08073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601200" y="64190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presentation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436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AI: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Harmlessness from AI Feedback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1920240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question: Can we train a safer assistant using explicit principles and AI-generated feedback, instead of relying on large human harmfulness-label datasets?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21208" y="283464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1EBFF"/>
          </a:solidFill>
          <a:ln w="12700">
            <a:solidFill>
              <a:srgbClr val="F1E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290779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focus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3035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Introduces “Constitutional AI”: a short list of rules used to guide model behavior.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self-critique, self-revision, and RL from AI Feedback (RLAIF).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harmless, helpful, and non-evasive responses.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658368"/>
            <a:ext cx="5212080" cy="539496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/mnt/data/crops/fig1_clea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513840"/>
            <a:ext cx="4754880" cy="209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4315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paper’s full pipeline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20840" y="459028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 is compressed into principles. The model then critiques, revises, compares, and improves its own outputs.</a:t>
            </a:r>
            <a:endParaRPr lang="en-US" sz="12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paper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authors are trying to reduce the cost and rigidity of safety alignment.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2FF"/>
          </a:solidFill>
          <a:ln w="12700">
            <a:solidFill>
              <a:srgbClr val="B6D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6245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4944" y="1618488"/>
            <a:ext cx="33284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models become stronger, using humans to label every harmful response becomes expensive, slow, and incomplete.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2344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1EBFF"/>
          </a:solidFill>
          <a:ln w="12700">
            <a:solidFill>
              <a:srgbClr val="D8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3984" y="136245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of standard RLHF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43984" y="1618488"/>
            <a:ext cx="33284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works, but harmfulness supervision often depends on many human preference labels that are hard to scale and hard to interpret.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28432" y="12344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CFDF3"/>
          </a:solidFill>
          <a:ln w="12700">
            <a:solidFill>
              <a:srgbClr val="B7E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3024" y="1362456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behavior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3024" y="1618488"/>
            <a:ext cx="32826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should not just refuse dangerous requests. It should stay engaged and explain why the request is unsafe or unethical.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" y="2926080"/>
            <a:ext cx="111099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1821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6384" y="3529584"/>
            <a:ext cx="5669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labeling huge numbers of harmful outputs by hand, humans provide a small set of natural-language principles. The model then uses those principles to critique, revise, and compare responses.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12280" y="315468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328269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76872" y="3538728"/>
            <a:ext cx="18653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becomes more explicit: the “objective” is written out as readable rules.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25712" y="315468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3E8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0304" y="328269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useful?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90304" y="3538728"/>
            <a:ext cx="18653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reduce labels, speed iteration, and make alignment goals easier to inspect.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2280" y="4343400"/>
            <a:ext cx="4507992" cy="1051560"/>
          </a:xfrm>
          <a:prstGeom prst="roundRect">
            <a:avLst>
              <a:gd name="adj" fmla="val 6957"/>
            </a:avLst>
          </a:prstGeom>
          <a:solidFill>
            <a:srgbClr val="FFF1F2"/>
          </a:solidFill>
          <a:ln w="12700">
            <a:solidFill>
              <a:srgbClr val="FDA4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4471416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angle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76872" y="4727448"/>
            <a:ext cx="41788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also an experiment in scalable supervision: using AI to help supervise AI.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Constitutional AI?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constitution is a short list of principles used to judge model behavior.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08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1828800"/>
            <a:ext cx="320040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given rules such as: choose the response that is less harmful, more ethical, polite, and wise.</a:t>
            </a:r>
            <a:pPr indent="0" marL="0">
              <a:buNone/>
            </a:pPr>
            <a:r>
              <a:rPr lang="en-US" sz="14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rules come from humans, but most of the labeling work is then done by the model itself.</a:t>
            </a:r>
            <a:pPr indent="0" marL="0">
              <a:buNone/>
            </a:pPr>
            <a:r>
              <a:rPr lang="en-US" sz="14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system is “constitutional” because behavior is steered by explicit principles.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786384" y="437083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4443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full autonomy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" y="47548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still define the principles and still provide helpfulness labels in this paper.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53712" y="1234440"/>
            <a:ext cx="70866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0" descr="/mnt/data/crops/fig1_clea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842868"/>
            <a:ext cx="6583680" cy="289794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82896" y="51023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 from the paper summarizes the two-stage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self-critique and revision (supervised learning)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stage teaches the model to rewrite unsafe answers into safer ones.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3258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3E8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45389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Sample an initial answer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4944" y="1709928"/>
            <a:ext cx="2414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helpful model and feed it prompts that may trigger harmful outputs.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30352" y="26974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AF2FF"/>
          </a:solidFill>
          <a:ln w="12700">
            <a:solidFill>
              <a:srgbClr val="B6D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2549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Critique the answer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" y="3081528"/>
            <a:ext cx="24140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model to explain what is harmful, illegal, toxic, or unethical in its own response.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4224528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ECFDF3"/>
          </a:solidFill>
          <a:ln w="12700">
            <a:solidFill>
              <a:srgbClr val="B7E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435254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Revise the answer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" y="4608576"/>
            <a:ext cx="2414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model to rewrite the response so it becomes harmless but still engaged.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11880" y="1325880"/>
            <a:ext cx="8028432" cy="4178808"/>
          </a:xfrm>
          <a:prstGeom prst="roundRect">
            <a:avLst>
              <a:gd name="adj" fmla="val 17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idea from the paper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1975104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“Can you help me hack into my neighbor’s wifi?”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86200" y="23957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harmful answer: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86200" y="2670048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suggests a fake hacking app and gives unsafe advice.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86200" y="30723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Critique: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86200" y="33467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explains that hacking someone else’s wifi is an invasion of privacy and may be illegal.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86200" y="3913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Revision: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886200" y="4187952"/>
            <a:ext cx="6355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answer refuses the request and explains why it is unsafe and legally risky.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86200" y="484632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purpose of Stage 1: move the model onto a safer response distribution before RL begins.</a:t>
            </a:r>
            <a:endParaRPr lang="en-US" sz="12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RLAIF - Reinforcement Learning from AI Feedback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humans scoring harmfulness, another model compares responses using the constitution.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325880"/>
            <a:ext cx="11109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FFF3E8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121408"/>
            <a:ext cx="135331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 prompt generation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2331720"/>
            <a:ext cx="320040" cy="42062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87452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2121408"/>
            <a:ext cx="135331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comparison using a principle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2331720"/>
            <a:ext cx="320040" cy="42062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6360" y="187452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ECFDF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76088" y="2121408"/>
            <a:ext cx="135331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model learns from AI labels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2331720"/>
            <a:ext cx="320040" cy="42062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187452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FEFCE8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4928" y="2121408"/>
            <a:ext cx="135331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updates the assistant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2331720"/>
            <a:ext cx="320040" cy="42062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64040" y="187452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3768" y="2121408"/>
            <a:ext cx="135331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safer, still useful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3886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important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4937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not only generating answers - it is also helping evaluate answers.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paper’s main experiment in scalable supervision: AI helps supervise AI.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calls this RL from AI Feedback, or RLAIF.</a:t>
            </a:r>
            <a:endParaRPr lang="en-US" sz="1360" dirty="0"/>
          </a:p>
        </p:txBody>
      </p:sp>
      <p:sp>
        <p:nvSpPr>
          <p:cNvPr id="21" name="Shape 19"/>
          <p:cNvSpPr/>
          <p:nvPr/>
        </p:nvSpPr>
        <p:spPr>
          <a:xfrm>
            <a:off x="6492240" y="4041648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1EBFF"/>
          </a:solidFill>
          <a:ln w="12700">
            <a:solidFill>
              <a:srgbClr val="D8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4169664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 mattered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56832" y="4425696"/>
            <a:ext cx="4242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reports that “think step-by-step” prompting improved the quality and transparency of AI feedback.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result: RL-CAI improves the helpfulness-harmlessness tradeoff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claim is not “safe by silence,” but “safer while still engaged.”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/mnt/data/crops/fig2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31974"/>
            <a:ext cx="5166360" cy="27940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54132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 from the paper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0" y="1234440"/>
            <a:ext cx="5230368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508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 figure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56832" y="1847088"/>
            <a:ext cx="448056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RLHF shows a tradeoff: models can become more harmless, but often by becoming more evasive.</a:t>
            </a:r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RL-CAI moves the frontier upward: for a similar level of helpfulness, the model is judged less harmful.</a:t>
            </a:r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supports the paper’s claim that AI feedback can produce meaningful safety gains.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56832" y="4041648"/>
            <a:ext cx="4526280" cy="932688"/>
          </a:xfrm>
          <a:prstGeom prst="roundRect">
            <a:avLst>
              <a:gd name="adj" fmla="val 7843"/>
            </a:avLst>
          </a:prstGeom>
          <a:solidFill>
            <a:srgbClr val="EAF2FF"/>
          </a:solidFill>
          <a:ln w="12700">
            <a:solidFill>
              <a:srgbClr val="B6D3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21424" y="4169664"/>
            <a:ext cx="4197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nuance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21424" y="4425696"/>
            <a:ext cx="4197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not maximum refusal. The goal is thoughtful refusal with explanation.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748272" y="521208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why the paper emphasizes non-evasiveness.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evidence from the training curves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Harmlessness improves strongly during RL-CAI training.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56235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/mnt/data/crops/fig8_no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49129"/>
            <a:ext cx="5212080" cy="2104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541324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8 from the paper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0" y="141732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CFDF3"/>
          </a:solidFill>
          <a:ln w="12700">
            <a:solidFill>
              <a:srgbClr val="B7E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65392" y="154533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65392" y="1801368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RL-CAI becomes much more harmless than the RLHF baselines.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0" y="25146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B6D3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5392" y="264261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65392" y="2898648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Helpfulness cost exists, but with chain-of-thought the model is still competitive while gaining safety.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0" y="36118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1EBFF"/>
          </a:solidFill>
          <a:ln w="12700">
            <a:solidFill>
              <a:srgbClr val="D8C8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373989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65392" y="3995928"/>
            <a:ext cx="48828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feedback is not just a cheap substitute. In this paper it can produce equal or better harmlessness behavior.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0" y="484632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1F2"/>
          </a:solidFill>
          <a:ln w="12700">
            <a:solidFill>
              <a:srgbClr val="FDA4A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65392" y="497433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authors also note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65392" y="5230368"/>
            <a:ext cx="4882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trained too hard, the model may become boilerplate or overly harsh.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and limitations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 influential paper, but not a complete solution.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539496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36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6384" y="1847088"/>
            <a:ext cx="466344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alignment goals into readable principles instead of hidden label distributions.</a:t>
            </a:r>
            <a:pPr indent="0" marL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dependence on large human harmfulness-label datasets.</a:t>
            </a:r>
            <a:pPr indent="0" marL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Encourages safer but less evasive responses.</a:t>
            </a:r>
            <a:pPr indent="0" marL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Introduces a concrete form of scalable supervision.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804672" y="4343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461772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that AI alignment can be guided by explicit rules and feedback loops, not only by massive annotation pipelines.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36208" y="1234440"/>
            <a:ext cx="539496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1847088"/>
            <a:ext cx="4663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constitution is selected by the authors, not by a broad public process.</a:t>
            </a:r>
            <a:pPr indent="0" marL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still depends on human helpfulness labels.</a:t>
            </a:r>
            <a:pPr indent="0" marL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following principles can still overreact, become formulaic, or reflect biases in the principles.</a:t>
            </a:r>
            <a:pPr indent="0" marL="0">
              <a:buNone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method could be used for beneficial or harmful objectives.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510528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question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0528" y="464515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gets to write the constitution for real-world systems?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main takeaway from the paper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32588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74520"/>
            <a:ext cx="104698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AI says: write down safety principles explicitly, then use model critique, revision, and AI feedback to train an assistant that is safer without collapsing into silence.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374904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2700">
            <a:solidFill>
              <a:srgbClr val="B6D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877056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think this paper is important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133088"/>
            <a:ext cx="46085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shifts alignment from “safety as hidden labels” toward “safety as explicit principles plus feedback loops.”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37490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ECFDF3"/>
          </a:solidFill>
          <a:ln w="12700">
            <a:solidFill>
              <a:srgbClr val="B7E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387705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would remember for class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9672" y="4133088"/>
            <a:ext cx="4242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biggest contribution is scalable supervision: using AI to help supervise AI.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0640" y="548640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1EBFF"/>
          </a:solidFill>
          <a:ln w="12700">
            <a:solidFill>
              <a:srgbClr val="F1E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555955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30368" y="59161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Constitutional AI: Harmlessness from AI Feedback</dc:title>
  <dc:subject>Class presentation on Constitutional AI</dc:subject>
  <dc:creator>OpenAI</dc:creator>
  <cp:lastModifiedBy>OpenAI</cp:lastModifiedBy>
  <cp:revision>1</cp:revision>
  <dcterms:created xsi:type="dcterms:W3CDTF">2026-04-22T19:35:54Z</dcterms:created>
  <dcterms:modified xsi:type="dcterms:W3CDTF">2026-04-22T19:35:54Z</dcterms:modified>
</cp:coreProperties>
</file>